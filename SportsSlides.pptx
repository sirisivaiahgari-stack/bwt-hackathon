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640080"/>
            <a:ext cx="2103120" cy="210312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828800"/>
            <a:ext cx="1371600" cy="1371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01752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65760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73152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ptos"/>
              </a:defRPr>
            </a:pPr>
            <a:r>
              <a:t>SPORTS TOURNAMENT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7680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6858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D2DCEB"/>
                </a:solidFill>
                <a:latin typeface="Aptos"/>
              </a:defRPr>
            </a:pPr>
            <a:r>
              <a:t>A digital platform to plan, organize, and track sports competitions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2148840" cy="347472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6512"/>
            <a:ext cx="2057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49377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D2DCEB"/>
                </a:solidFill>
                <a:latin typeface="Aptos"/>
              </a:defRPr>
            </a:pPr>
            <a:r>
              <a:t>Presented by: ____________________</a:t>
            </a:r>
            <a:br/>
            <a:r>
              <a:t>Department / Class: 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B4C3D7"/>
                </a:solidFill>
                <a:latin typeface="Aptos"/>
              </a:defRPr>
            </a:pPr>
            <a:r>
              <a:t>01  / 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02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008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12203A"/>
                </a:solidFill>
                <a:latin typeface="Aptos"/>
              </a:defRPr>
            </a:pPr>
            <a:r>
              <a:t>The Sports Tournament Management System helps organizers manage a tournament from registration to the final result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417320"/>
            <a:ext cx="82296" cy="13258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1581912"/>
            <a:ext cx="249631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One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75688"/>
            <a:ext cx="3035808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Teams, fixtures, scores, and standings.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718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2971800"/>
            <a:ext cx="82296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10896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136392"/>
            <a:ext cx="249631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Less manual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630168"/>
            <a:ext cx="3035808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Reduce paperwork and repeated data 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52628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526280"/>
            <a:ext cx="82296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66344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690872"/>
            <a:ext cx="249631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Live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184648"/>
            <a:ext cx="3035808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Share schedules and results quickly.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880360"/>
            <a:ext cx="6126480" cy="2468880"/>
          </a:xfrm>
          <a:prstGeom prst="rect">
            <a:avLst/>
          </a:prstGeom>
          <a:noFill/>
        </p:spPr>
        <p:txBody>
          <a:bodyPr wrap="square" lIns="45720" rIns="73152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Designed for schools, colleges, clubs, and local leagues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Supports multiple sports and tournament formats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Keeps tournament information organized and accessible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WHY IS A SYSTEM NEEDED?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03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Aptos"/>
              </a:defRPr>
            </a:pPr>
            <a:r>
              <a:t>Manual tournament management can become difficult as the number of teams and matches increases.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82296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7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496312"/>
            <a:ext cx="24048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Scattered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7"/>
            <a:ext cx="2944368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Registrations, schedules, and scores may be stored in separate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331720"/>
            <a:ext cx="82296" cy="20116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7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496312"/>
            <a:ext cx="24048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Scheduling 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90087"/>
            <a:ext cx="2944368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Manual fixture creation can cause overlapping times or venues.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331720"/>
            <a:ext cx="82296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7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2496312"/>
            <a:ext cx="24048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Slow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90087"/>
            <a:ext cx="2944368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Players may not receive the latest result or schedule on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0">
                <a:solidFill>
                  <a:srgbClr val="5E6E84"/>
                </a:solidFill>
                <a:latin typeface="Aptos"/>
              </a:defRPr>
            </a:pPr>
            <a:r>
              <a:t>The goal is to make tournament operations more accurate, transparent, and 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WHAT THE SYSTEM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04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82296" cy="16002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1673351"/>
            <a:ext cx="40050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Simplify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67128"/>
            <a:ext cx="454456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Collect team and player details in a structured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82296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1673351"/>
            <a:ext cx="40050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Automate fixtures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67128"/>
            <a:ext cx="454456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Create match schedules based on the chosen format.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6616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566160"/>
            <a:ext cx="82296" cy="1600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730752"/>
            <a:ext cx="40050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Track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24528"/>
            <a:ext cx="454456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Record match results and update standings.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6616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82296" cy="1600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3730752"/>
            <a:ext cx="40050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Improve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24528"/>
            <a:ext cx="454456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Make schedules and results easy to 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Users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WHO USES THE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05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32004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3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19072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2990088" cy="2423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• Creates tournaments</a:t>
            </a:r>
            <a:br/>
            <a:r>
              <a:t>• Approves registrations</a:t>
            </a:r>
            <a:br/>
            <a:r>
              <a:t>• Sets rules and venues</a:t>
            </a:r>
            <a:br/>
            <a:r>
              <a:t>• Manages user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82296" cy="3200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3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719072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Team / 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2990088" cy="2423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• Registers a team</a:t>
            </a:r>
            <a:br/>
            <a:r>
              <a:t>• Updates team details</a:t>
            </a:r>
            <a:br/>
            <a:r>
              <a:t>• Checks match schedules</a:t>
            </a:r>
            <a:br/>
            <a:r>
              <a:t>• Views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5448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554480"/>
            <a:ext cx="82296" cy="3200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9163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719072"/>
            <a:ext cx="24505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Player / Spectator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12848"/>
            <a:ext cx="2990088" cy="2423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• Views fixtures</a:t>
            </a:r>
            <a:br/>
            <a:r>
              <a:t>• Checks scores</a:t>
            </a:r>
            <a:br/>
            <a:r>
              <a:t>• Follows standings</a:t>
            </a:r>
            <a:br/>
            <a:r>
              <a:t>• Gets tournament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0">
                <a:solidFill>
                  <a:srgbClr val="5E6E84"/>
                </a:solidFill>
                <a:latin typeface="Aptos"/>
              </a:defRPr>
            </a:pPr>
            <a:r>
              <a:t>Each role sees the information and features relevant to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MAIN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06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82296" cy="1691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627632"/>
            <a:ext cx="249631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Tournament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21408"/>
            <a:ext cx="3035808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Name, sport, date, venue,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6304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82296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627632"/>
            <a:ext cx="249631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Team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121408"/>
            <a:ext cx="3035808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Team names, players, contact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46304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463040"/>
            <a:ext cx="82296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60020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627632"/>
            <a:ext cx="249631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Fixture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121408"/>
            <a:ext cx="3035808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Match pairings and time slots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11880"/>
            <a:ext cx="82296" cy="1691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74904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776472"/>
            <a:ext cx="249631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Score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70248"/>
            <a:ext cx="3035808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Scores, winners, match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611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611880"/>
            <a:ext cx="82296" cy="1691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74904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3776472"/>
            <a:ext cx="249631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Points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270248"/>
            <a:ext cx="3035808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Rankings and qualification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611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0" y="3611880"/>
            <a:ext cx="82296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374904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3776472"/>
            <a:ext cx="249631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270248"/>
            <a:ext cx="3035808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Schedule and result announcements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FROM SETUP TO 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07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1600200" cy="82296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  <a:br/>
            <a:r>
              <a:t>Tournament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31720"/>
            <a:ext cx="1600200" cy="8229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Register</a:t>
            </a:r>
            <a:br/>
            <a:r>
              <a:t>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331720"/>
            <a:ext cx="1600200" cy="8229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Generate</a:t>
            </a:r>
            <a:br/>
            <a:r>
              <a:t>Fixtures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331720"/>
            <a:ext cx="1600200" cy="82296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Record</a:t>
            </a:r>
            <a:br/>
            <a:r>
              <a:t>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331720"/>
            <a:ext cx="1600200" cy="8229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Publish</a:t>
            </a:r>
            <a:br/>
            <a:r>
              <a:t>Results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743200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2743200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2743200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58200" y="2743200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886200"/>
            <a:ext cx="103327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0">
                <a:solidFill>
                  <a:srgbClr val="12203A"/>
                </a:solidFill>
                <a:latin typeface="Aptos"/>
              </a:defRPr>
            </a:pPr>
            <a:r>
              <a:t>Organizer configures the event, teams join, fixtures are prepared, match results are entered, and updated standings are published.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5257800"/>
            <a:ext cx="4160520" cy="347472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59" y="5285232"/>
            <a:ext cx="40690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CLEAR • CONSISTENT • TRACEABLE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Tournament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CHOOSE THE RIGHT COMPETITION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08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82296" cy="32918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73351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Knockout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2990088" cy="2514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A team is eliminated after a loss.</a:t>
            </a:r>
            <a:br/>
            <a:br/>
            <a:r>
              <a:t>Best for: short events with limited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82296" cy="3291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673351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League / Round Robin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2990088" cy="2514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Every team plays all or many other teams.</a:t>
            </a:r>
            <a:br/>
            <a:br/>
            <a:r>
              <a:t>Best for: fair comparison across teams.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0876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508760"/>
            <a:ext cx="82296" cy="3291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673351"/>
            <a:ext cx="24505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Group + Knockout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67128"/>
            <a:ext cx="2990088" cy="2514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Teams play in groups, then top teams advance.</a:t>
            </a:r>
            <a:br/>
            <a:br/>
            <a:r>
              <a:t>Best for: larger tournaments.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0">
                <a:solidFill>
                  <a:srgbClr val="5E6E84"/>
                </a:solidFill>
                <a:latin typeface="Aptos"/>
              </a:defRPr>
            </a:pPr>
            <a:r>
              <a:t>The organizer selects a format based on team count, available time, and competition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Team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COLLECT COMPLETE AND RELIABLE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09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6583680" cy="4206240"/>
          </a:xfrm>
          <a:prstGeom prst="rect">
            <a:avLst/>
          </a:prstGeom>
          <a:noFill/>
        </p:spPr>
        <p:txBody>
          <a:bodyPr wrap="square" lIns="45720" rIns="73152" tIns="18288" b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Tournament and sport selection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Team name, captain, and contact information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Player names and required details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Validation to prevent missing or duplicate entries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Registration status: pending, approved, or rejected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46304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463EB"/>
                </a:solidFill>
                <a:latin typeface="Aptos"/>
              </a:defRPr>
            </a:pPr>
            <a:r>
              <a:t>TEAM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331720"/>
            <a:ext cx="914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E6E84"/>
                </a:solidFill>
                <a:latin typeface="Aptos"/>
              </a:defRPr>
            </a:pPr>
            <a:r>
              <a:t>Team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04288"/>
            <a:ext cx="1828800" cy="34747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2359151"/>
            <a:ext cx="1600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E6E84"/>
                </a:solidFill>
                <a:latin typeface="Aptos"/>
              </a:defRPr>
            </a:pPr>
            <a:r>
              <a:t>Falcons FC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3017520"/>
            <a:ext cx="914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E6E84"/>
                </a:solidFill>
                <a:latin typeface="Aptos"/>
              </a:defRPr>
            </a:pPr>
            <a:r>
              <a:t>Captain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990088"/>
            <a:ext cx="1828800" cy="34747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3044951"/>
            <a:ext cx="1600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E6E84"/>
                </a:solidFill>
                <a:latin typeface="Aptos"/>
              </a:defRPr>
            </a:pPr>
            <a:r>
              <a:t>Team captain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703320"/>
            <a:ext cx="914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E6E84"/>
                </a:solidFill>
                <a:latin typeface="Aptos"/>
              </a:defRPr>
            </a:pPr>
            <a:r>
              <a:t>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3675887"/>
            <a:ext cx="1828800" cy="34747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3730752"/>
            <a:ext cx="1600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E6E84"/>
                </a:solidFill>
                <a:latin typeface="Aptos"/>
              </a:defRPr>
            </a:pPr>
            <a:r>
              <a:t>Football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4389120"/>
            <a:ext cx="914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E6E84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361688"/>
            <a:ext cx="1828800" cy="34747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4416552"/>
            <a:ext cx="1600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E6E84"/>
                </a:solidFill>
                <a:latin typeface="Aptos"/>
              </a:defRPr>
            </a:pPr>
            <a:r>
              <a:t>Email /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166360"/>
            <a:ext cx="237744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5193792"/>
            <a:ext cx="22860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SUBMIT REGISTRATION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Fixture and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ORGANIZE MATCHES EFFICIENTLY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10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12203A"/>
                </a:solidFill>
                <a:latin typeface="Aptos"/>
              </a:defRPr>
            </a:pPr>
            <a:r>
              <a:t>A fixture is the list of matches, including who plays, when, and 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325880" cy="621792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12344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240280"/>
            <a:ext cx="2011680" cy="621792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2404872"/>
            <a:ext cx="1920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Team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240280"/>
            <a:ext cx="2011680" cy="621792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404872"/>
            <a:ext cx="1920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Team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40280"/>
            <a:ext cx="1645920" cy="621792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40487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240280"/>
            <a:ext cx="1645920" cy="621792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40487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862072"/>
            <a:ext cx="1325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017520"/>
            <a:ext cx="12527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Match 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862072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3017520"/>
            <a:ext cx="19385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Falcons FC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862072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1376" y="3017520"/>
            <a:ext cx="19385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Tigers FC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862072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017520"/>
            <a:ext cx="1572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09:00 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862072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08975" y="3017520"/>
            <a:ext cx="1572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Court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83864"/>
            <a:ext cx="1325880" cy="621792"/>
          </a:xfrm>
          <a:prstGeom prst="rect">
            <a:avLst/>
          </a:prstGeom>
          <a:solidFill>
            <a:srgbClr val="E8F0F9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639312"/>
            <a:ext cx="12527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Match 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3483864"/>
            <a:ext cx="2011680" cy="621792"/>
          </a:xfrm>
          <a:prstGeom prst="rect">
            <a:avLst/>
          </a:prstGeom>
          <a:solidFill>
            <a:srgbClr val="E8F0F9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3639312"/>
            <a:ext cx="19385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Eagles SC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483864"/>
            <a:ext cx="2011680" cy="621792"/>
          </a:xfrm>
          <a:prstGeom prst="rect">
            <a:avLst/>
          </a:prstGeom>
          <a:solidFill>
            <a:srgbClr val="E8F0F9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51376" y="3639312"/>
            <a:ext cx="19385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Rovers FC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483864"/>
            <a:ext cx="1645920" cy="621792"/>
          </a:xfrm>
          <a:prstGeom prst="rect">
            <a:avLst/>
          </a:prstGeom>
          <a:solidFill>
            <a:srgbClr val="E8F0F9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3639312"/>
            <a:ext cx="1572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10:30 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483864"/>
            <a:ext cx="1645920" cy="621792"/>
          </a:xfrm>
          <a:prstGeom prst="rect">
            <a:avLst/>
          </a:prstGeom>
          <a:solidFill>
            <a:srgbClr val="E8F0F9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08975" y="3639312"/>
            <a:ext cx="1572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Court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05656"/>
            <a:ext cx="1325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4261104"/>
            <a:ext cx="12527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Match 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4105656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9696" y="4261104"/>
            <a:ext cx="19385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Tigers FC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4105656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51376" y="4261104"/>
            <a:ext cx="193852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Eagles SC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105656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3056" y="4261104"/>
            <a:ext cx="1572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01:00 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4105656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08975" y="4261104"/>
            <a:ext cx="1572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ptos"/>
              </a:defRPr>
            </a:pPr>
            <a:r>
              <a:t>Court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074920"/>
            <a:ext cx="99669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0">
                <a:solidFill>
                  <a:srgbClr val="5E6E84"/>
                </a:solidFill>
                <a:latin typeface="Aptos"/>
              </a:defRPr>
            </a:pPr>
            <a:r>
              <a:t>Scheduling checks can help avoid team, time, and venue conflicts.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Score and Standings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KEEP RESULTS UP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11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82296" cy="1645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73351"/>
            <a:ext cx="22219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Enter match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2761488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Authorized staff records the final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82296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673351"/>
            <a:ext cx="22219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Validate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167128"/>
            <a:ext cx="2761488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Check score details before publishing.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0876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08760"/>
            <a:ext cx="82296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1673351"/>
            <a:ext cx="22219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Update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67128"/>
            <a:ext cx="2761488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Recalculate points and team ranking.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794760"/>
            <a:ext cx="914400" cy="438912"/>
          </a:xfrm>
          <a:prstGeom prst="rect">
            <a:avLst/>
          </a:prstGeom>
          <a:solidFill>
            <a:srgbClr val="24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56231" y="3886200"/>
            <a:ext cx="8595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794760"/>
            <a:ext cx="2743200" cy="438912"/>
          </a:xfrm>
          <a:prstGeom prst="rect">
            <a:avLst/>
          </a:prstGeom>
          <a:solidFill>
            <a:srgbClr val="24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3886200"/>
            <a:ext cx="26883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1371600" cy="438912"/>
          </a:xfrm>
          <a:prstGeom prst="rect">
            <a:avLst/>
          </a:prstGeom>
          <a:solidFill>
            <a:srgbClr val="24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3832" y="3886200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Played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794760"/>
            <a:ext cx="1371600" cy="438912"/>
          </a:xfrm>
          <a:prstGeom prst="rect">
            <a:avLst/>
          </a:prstGeom>
          <a:solidFill>
            <a:srgbClr val="24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3886200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94760"/>
            <a:ext cx="1371600" cy="438912"/>
          </a:xfrm>
          <a:prstGeom prst="rect">
            <a:avLst/>
          </a:prstGeom>
          <a:solidFill>
            <a:srgbClr val="24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3886200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233672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1" y="4325112"/>
            <a:ext cx="8595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233672"/>
            <a:ext cx="2743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0632" y="4325112"/>
            <a:ext cx="26883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Falcons FC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233672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4325112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233672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4325112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233672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1" y="4325112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4672584"/>
            <a:ext cx="914400" cy="438912"/>
          </a:xfrm>
          <a:prstGeom prst="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56231" y="4764024"/>
            <a:ext cx="8595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4672584"/>
            <a:ext cx="2743200" cy="438912"/>
          </a:xfrm>
          <a:prstGeom prst="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70632" y="4764024"/>
            <a:ext cx="26883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Tigers FC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672584"/>
            <a:ext cx="1371600" cy="438912"/>
          </a:xfrm>
          <a:prstGeom prst="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3832" y="4764024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4672584"/>
            <a:ext cx="1371600" cy="438912"/>
          </a:xfrm>
          <a:prstGeom prst="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85432" y="4764024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672584"/>
            <a:ext cx="1371600" cy="438912"/>
          </a:xfrm>
          <a:prstGeom prst="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4764024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5111496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56231" y="5202936"/>
            <a:ext cx="8595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5111496"/>
            <a:ext cx="2743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70632" y="5202936"/>
            <a:ext cx="26883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Eagles SC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5111496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13832" y="5202936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5111496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2" y="5202936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5111496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57031" y="5202936"/>
            <a:ext cx="13167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HOW THE PARTS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12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2203A"/>
                </a:solidFill>
                <a:latin typeface="Aptos"/>
              </a:defRPr>
            </a:pPr>
            <a:r>
              <a:t>A simple web-based architecture can separate the user interface, application logic, and data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148840" cy="822960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Users</a:t>
            </a:r>
            <a:br/>
            <a:r>
              <a:t>(Admin / Teams / Fans)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331720"/>
            <a:ext cx="2011680" cy="82296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Web Interface</a:t>
            </a:r>
            <a:br/>
            <a:r>
              <a:t>(Frontend)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2011680" cy="8229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Application Logic</a:t>
            </a:r>
            <a:br/>
            <a:r>
              <a:t>(Backend)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331720"/>
            <a:ext cx="1920240" cy="8229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  <a:br/>
            <a:r>
              <a:t>(Records)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743200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2743200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2743200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669280" y="3246120"/>
            <a:ext cx="3474720" cy="365760"/>
          </a:xfrm>
          <a:prstGeom prst="line">
            <a:avLst/>
          </a:prstGeom>
          <a:ln w="25400">
            <a:solidFill>
              <a:srgbClr val="5E6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920240" y="3246120"/>
            <a:ext cx="1737360" cy="365760"/>
          </a:xfrm>
          <a:prstGeom prst="line">
            <a:avLst/>
          </a:prstGeom>
          <a:ln w="25400">
            <a:solidFill>
              <a:srgbClr val="5E6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3434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463EB"/>
                </a:solidFill>
                <a:latin typeface="Aptos"/>
              </a:defRPr>
            </a:pPr>
            <a:r>
              <a:t>Example technology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4937760" cy="1371600"/>
          </a:xfrm>
          <a:prstGeom prst="rect">
            <a:avLst/>
          </a:prstGeom>
          <a:noFill/>
        </p:spPr>
        <p:txBody>
          <a:bodyPr wrap="square" lIns="45720" rIns="73152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Frontend: HTML, CSS, JavaScript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Backend: Python / Node.js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Database: MySQL /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709160"/>
            <a:ext cx="4754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5E6E84"/>
                </a:solidFill>
                <a:latin typeface="Aptos"/>
              </a:defRPr>
            </a:pPr>
            <a:r>
              <a:t>Technology can be selected based on team skills and project requirements.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Security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PROTECT TOURNAMENT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13  /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82296" cy="18288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73351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299008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Only authorized users can edit fixtures or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82296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673351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Input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299008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Check required fields and prevent invalid entries.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508760"/>
            <a:ext cx="82296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45919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973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673351"/>
            <a:ext cx="24505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Backups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67128"/>
            <a:ext cx="299008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Keep recoverable copies of important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3794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794760"/>
            <a:ext cx="82296" cy="1600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93192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959352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Audit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53128"/>
            <a:ext cx="299008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Track important changes to results and schedules.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94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82296" cy="16002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3192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24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3959352"/>
            <a:ext cx="2450591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2203A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53128"/>
            <a:ext cx="299008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5E6E84"/>
                </a:solidFill>
                <a:latin typeface="Aptos"/>
              </a:defRPr>
            </a:pPr>
            <a:r>
              <a:t>Store only necessary personal information securely.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"/>
              </a:defRPr>
            </a:pPr>
            <a:r>
              <a:t>Benefits and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463EB"/>
                </a:solidFill>
                <a:latin typeface="Aptos"/>
              </a:defRPr>
            </a:pPr>
            <a:r>
              <a:t>VALUE NOW, POSSIBILITIES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E6E84"/>
                </a:solidFill>
                <a:latin typeface="Aptos"/>
              </a:defRPr>
            </a:pPr>
            <a:r>
              <a:t>14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206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2463EB"/>
                </a:solidFill>
                <a:latin typeface="Aptos"/>
              </a:defRPr>
            </a:pPr>
            <a:r>
              <a:t>Key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754880" cy="3383280"/>
          </a:xfrm>
          <a:prstGeom prst="rect">
            <a:avLst/>
          </a:prstGeom>
          <a:noFill/>
        </p:spPr>
        <p:txBody>
          <a:bodyPr wrap="square" lIns="45720" rIns="73152" tIns="18288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Saves organizer time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Reduces manual errors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Makes schedules and results easier to access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Improves transparency for teams and spectators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22C55E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74519"/>
            <a:ext cx="5029200" cy="3566160"/>
          </a:xfrm>
          <a:prstGeom prst="rect">
            <a:avLst/>
          </a:prstGeom>
          <a:noFill/>
        </p:spPr>
        <p:txBody>
          <a:bodyPr wrap="square" lIns="45720" rIns="73152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Mobile-friendly app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Email / SMS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Live score updates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Player statistics and performance reports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Online registration payments (if required)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623560"/>
            <a:ext cx="4846320" cy="347472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5650992"/>
            <a:ext cx="4754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START SIMPLE • IMPROVE ITERATIVELY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98755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A smarter way to run sports tournaments.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8755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0">
                <a:solidFill>
                  <a:srgbClr val="D7E1F0"/>
                </a:solidFill>
                <a:latin typeface="Aptos"/>
              </a:defRPr>
            </a:pPr>
            <a:r>
              <a:t>The Sports Tournament Management System brings registration, scheduling, score tracking, and results into one organized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2286000" cy="68580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  Organize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0" y="4160520"/>
            <a:ext cx="2286000" cy="6858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  Manage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160520"/>
            <a:ext cx="2286000" cy="6858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  Celebrate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580644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700" b="0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B4C3D7"/>
                </a:solidFill>
                <a:latin typeface="Aptos"/>
              </a:defRPr>
            </a:pPr>
            <a:r>
              <a:t>15  /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